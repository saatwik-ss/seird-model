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3C5FD"/>
                </a:solidFill>
              </a:defRPr>
            </a:pPr>
            <a:r>
              <a:t>Mathematical Modelling Group Project</a:t>
            </a:r>
          </a:p>
          <a:p>
            <a:pPr>
              <a:spcAft>
                <a:spcPts val="2000"/>
              </a:spcAft>
              <a:defRPr sz="2600" b="1">
                <a:solidFill>
                  <a:srgbClr val="FFFFFF"/>
                </a:solidFill>
              </a:defRPr>
            </a:pPr>
            <a:r>
              <a:t>Physics-Informed Neural Networks for Parameter Estimation &amp; Hidden-State Recovery in an SEIRD Model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Group Structure &amp; Member Contributions (10-Minute Presentation):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1 (Lead): Motivation, Problem Statement, SEIRD Formulation, Technical Coordination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2: Mathematical Analysis: R0, Next-Generation Matrix, DFE Stability, Final Size, Sensitivity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3: Vectorized Solvers (Euler, RK4), Conservation Laws, E1 Order of Convergence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4: PINN Deep Learning Architecture, Loss Function, E2-E4 Synthetic &amp; Latent Recovery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5: Real-World Outbreak Application (E5), Baselines, Forecasting Benchmark, Limitations (~2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PROBLEM &amp; BACKGROUND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Motivation: Time-Varying Transmission &amp; Latent Epidemic States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Why Static Parameters Fail in Epidemiology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SEIR/SEIRD models assume a static transmission rate beta.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In reality, human contact behavior changes continuously due to non-pharmaceutical interventions (NPIs, lockdowns).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Seasonal environmental conditions and spontaneous public awareness create complex, nonlinear transmission dynamics beta(t).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Assuming constant beta yields inaccurate long-term peaks and misleading policy forecasts.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The Latent State Surveillance Challenge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Clinical surveillance captures only symptomatic diagnosed cases C(t) and reported disease mortalities D(t).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Crucial epidemiological pools remain entirely hidden: the actively incubating exposed pool E(t) and the uninfected susceptible pool S(t).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Project Question: Can a Physics-Informed Neural Network (PINN) simultaneously discover dynamic transmission beta(t) AND reconstruct unobserved latent states?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SYSTEM FORMULATION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SEIRD Mathematical Formulation &amp; Core Assumptions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Governing Differential Equations (Normalized N=1)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ds/dt = -beta(t) * s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de/dt =  beta(t) * s * i - sigma * 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di/dt =  sigma * e - (gamma + mu)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dr/dt =  gamma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dd/dt =  mu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Exact Invariant Conservation Law: s(t) + e(t) + i(t) + r(t) + d(t) = 1 for all t &gt;=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Epidemiological Assumptions &amp; Shared Conventions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Closed population: Demography negligible over acute 100-day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Homogeneous mixing across population.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Permanent sterilizing immunity post-recovery.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Fixed biological timescales from clinical literature: Incubation rate sigma = 1/5.2 day^-1; Recovery rate gamma = 1/10.0 day^-1.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Fixing sigma and gamma eliminates structural unidentifiability, allowing robust learning of beta(t) and mu.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DYNAMICAL SYSTEMS ANALYSIS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Mathematical Analysis: Reproduction Number &amp; Equilibrium Stability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Next-Generation Matrix Derivation of R0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Infected subsystem x = (e, i)^T.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Transmission matrix F = [[0, beta], [0, 0]]; Transition matrix V = [[sigma, 0], [-sigma, gamma + mu]].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Next-Generation Matrix FV^(-1) = [[beta/(gamma+mu), beta/(gamma+mu)], [0, 0]].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Basic Reproduction Number: R0 = rho(FV^(-1)) = beta / (gamma + mu).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Dynamic Effective Reproduction Number: Rt = beta(t) * s(t) / (gamma + mu).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Disease-Free Equilibrium (DFE) Stability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Equilibrium states: y*_DFE = (s*, 0, 0, r*, d*) with s* + r* + d* = 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Jacobian characteristic equation yields three neutral eigenvalues (lambda = 0) and quadratic factor: lambda^2 + (sigma + gamma + mu)lambda + sigma(gamma + mu)(1 - R0*s*) = 0.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Routh-Hurwitz Stability Criterion: DFE is locally asymptotically stable iff 1 - R0*s* &gt; 0 =&gt; R0*s* &lt; 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If R0*s* &gt; 1, the disease-free state is unstable and an epidemic outbreak occurs.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ANALYTICAL VALIDATION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Theoretical Final-Size Relation &amp; Global Sensitivity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Transcendental Final-Size Equation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Dividing ds/d(r+d) = -R0 * s and integrating yields: ln(s0 / s_inf) = R0 * (1 - s_inf).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Validated across multiple R0 values against high-precision numerical ODE simulations (DOP853).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Relative error drops from 5.56e-2 at R0=1.5 to 9.22e-6 at R0=3.5, confirming analytical exactness.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Global Sensitivity Analysis (LHS-PRCC)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Normalized analytical index: Sensitivity of R0 to beta is +1.0, to gamma is -0.952.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Latin Hypercube Sampling (N=400) + Partial Rank Correlation Coefficients (PRCC) on nonlinear dynamics.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Transmission beta exhibits dominant positive correlation with peak infection and final attack rate.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Recovery gamma acts as the primary suppressing factor, while incubation sigma impacts peak timing.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SCIENTIFIC COMPUTING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Numerical Solvers &amp; Invariant Conservation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Custom Vectorized Integrator Implementations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Implemented from scratch without external ODE libraries: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Vectorized Forward Euler: y_(k+1) = y_k + h * f(t_k, y_k).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Vectorized 4th-Order Runge-Kutta (RK4): Four intermediate function evaluations with weighted slope averaging.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Benchmark Reference Solver: SciPy DOP853 (explicit 8th-order Dormand-Prince, rtol=1e-12, atol=1e-14).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Conservation Law Invariant Verification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Biological Invariant: Total population sum s(t) + e(t) + i(t) + r(t) + d(t) = 1 must hold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Evaluated along trajectory t in [0, 60] days: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Maximum Invariant Violation = 6.66 x 10^-16 (machine precision limit).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Confirms zero artificial population leakage or drift in our numerical implementations.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SOLVER VERIFICATION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Experiment E1: Empirical Order of Convergence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Convergence Order Methodology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across 6 step sizes: h in {1.0, 0.5, 0.25, 0.125, 0.0625, 0.03125} days.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Global error: E(h) = max_k ||y_k - y_ref(t_k)||_inf.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Log-log linear regression: ln E(h) = p * ln(h) + C.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Empirical slope p represents the numerical order of accuracy.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Results &amp; Verification Against Theory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Forward Euler Slope = 0.999 (Theoretical: 1.0) - Perfect First-Order Confirmation.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Runge-Kutta 4 Slope = 3.694 (Theoretical: 4.0) - Confirms Fourth-Order Truncation.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Provides ironclad benchmark verification required for scientific rigour and bonus marks.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DEEP LEARNING METHODOLOGY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Physics-Informed Neural Network (PINN)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Dual-Network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State Network: NN_theta(tau) -&gt; (s, e, i, r, d) in (0, 1)^5. 3 hidden layers (48 units each,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Transmission Network: NN_phi(tau) -&gt; beta(t). 2 hidden layers (32 units,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Positivity: Softplus activation ln(1 + e^x) ensures beta(t) &gt; 0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Rescaled dimensionless time: tau = t / T in [0, 1] prevents vanishing gradients across long horizons.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Autograd Physics Loss &amp; Regularization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Composite Loss: L = w_data * L_data + w_ode * L_ode + w_ic * L_ic + w_reg * L_smooth.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PyTorch autograd computes exact physical derivatives du/dtau at random collocation points.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ODE residual: r(tau) = du/dtau - T * f(u, beta).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Smoothness penalty: L_smooth = mean((d beta / d tau)^2) resolves mathematical ill-posedness.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COMPUTATIONAL EXPERIMENTS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Synthetic Validation &amp; Latent State Recovery (E2-E4)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Inverse beta(t) Recovery Under Noise (E3)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under 1% and 5% Gaussian noise across two regimes: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Step Lockdown: Abrupt drop from 0.45 to 0.18 at Day 25. Recovered with RMSE = 0.147.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Seasonal Sinusoid: Cyclic wave beta(t) = 0.32 + 0.12 sin(2 pi t / 30). Recovered with RMSE = 0.086.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Demonstrates ability to discover dynamic transmission without prescribing functional 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Hidden Latent State Recovery (E4)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scenario: Observed ONLY cumulative cases C(t) and deaths D(t). Zero measurements of s(t) and e(t).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susceptible s(t): RMSE = 8.80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latent exposed e(t): RMSE = 3.80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coupling successfully unmasks the hidden disease reservoir.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EMPIRICAL INVESTIGATION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Real-World Outbreak Application: Ontario Surveillance (E5)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Dataset Provenance &amp; Split Hygiene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Ontario Wave 1 Surveillance Dataset (March 1 - June 28, 2020, 120 days).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Total regional population N = 14,734,014.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75% / 25% Chronological Train/Test Split: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Training Window (Days 0-89): Calibration only.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Held-Out Forecast Window (Days 90-119): Completely unseen 30-day forecast horizon.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Benchmark Baselines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Constant-beta Least Squares: Classical standard SEIRD fitted to training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Piecewise-beta Least Squares: 3 discrete 30-day policy blocks with second-order smoothness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Proposed PINN: Free-form dynamic beta(t) learned over training epoch, forward integrated using terminal state.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EVALUATION &amp; INSIGHTS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Forecasting Benchmark &amp; Honest Scientific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Held-Out Window Forecast Metrics (Days 90-119)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Piecewise-beta Least Squares achieved best forecast: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Cases MAE: 9,232.8 (55.4%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Deaths MAE: 68.8 (6.2%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Constant-beta Least Squares overshoots due to failing to capture intervention drops (230%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 suffers from extrapolation divergence when projected outside support domain tau &gt;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Key Takeaways: When to Use What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Honest Negative Result: In accordance with project instructions, we report and explain why PINNs don't beat regularized least squares for forward forecasting.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PINNs shine at Retrospective Forensics: Reconstructing unobserved historical compartments and recovering arbitrary beta(t) without rigid parametric assumptions.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regularized mechanistic models remain superior for unconstrained out-of-sample forward projections.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DELIVERABLES &amp; Q&amp;A | PRESENTER: LEAD / ALL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Ablations, Bonus Evidence Mapping &amp; AI Acknowledgement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Ablation Studies (E6) &amp; Bonus Evidence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Collocation density: Error reduces up to Nf = 200, then saturates.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loss balancing: Over-weighting ODE loss (w_ode = 10) causes gradient stiffness; w_ode = 0.01 optimal.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Bonus Criteria Fulfilled: Verifiable public dataset cited; independent benchmark solver (DOP853) &amp; analytic final-size validation; quantitative MAE/RMSE/slope metrics; honest comparison.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Academic Honesty &amp; Q&amp;A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AI Acknowledgement: Claude / Antigravity assisted with drafting PyTorch loss boilerplate and formatting LaTeX. All mathematical derivations, implementations, and interpretations independently verified by group members.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Every member is prepared to answer questions on any section of the code and mathematics.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Thank you!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