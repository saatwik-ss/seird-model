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93C5FD"/>
                </a:solidFill>
              </a:defRPr>
            </a:pPr>
            <a:r>
              <a:t>Mathematical Modelling Group Project</a:t>
            </a:r>
          </a:p>
          <a:p>
            <a:pPr>
              <a:spcAft>
                <a:spcPts val="2000"/>
              </a:spcAft>
              <a:defRPr sz="2600" b="1">
                <a:solidFill>
                  <a:srgbClr val="FFFFFF"/>
                </a:solidFill>
              </a:defRPr>
            </a:pPr>
            <a:r>
              <a:t>Physics-Informed Neural Networks for Parameter Estimation &amp; Hidden-State Recovery in an SEIRD Model</a:t>
            </a:r>
          </a:p>
          <a:p>
            <a:pPr>
              <a:defRPr sz="1400" b="1">
                <a:solidFill>
                  <a:srgbClr val="E2E8F0"/>
                </a:solidFill>
              </a:defRPr>
            </a:pPr>
            <a:r>
              <a:t>Group Structure &amp; Member Contributions (10-Minute Presentation):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  - Member 1 (Lead): Motivation, Problem Statement, SEIRD Formulation, Technical Coordination (~2 min)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  - Member 2: Mathematical Analysis: R0, Next-Generation Matrix, DFE Stability, Final Size, Sensitivity (~2 min)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  - Member 3: Vectorized Solvers (Euler, RK4), Conservation Laws, E1 Order of Convergence (~2 min)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  - Member 4: PINN Deep Learning Architecture, Loss Function, E2-E4 Synthetic &amp; Latent Recovery (~2 min)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  - Member 5: Real-World Outbreak Application (E5), Baselines, Forecasting Benchmark, Limitations (~2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A56A0"/>
                </a:solidFill>
              </a:defRPr>
            </a:pPr>
            <a:r>
              <a:t>PROBLEM &amp; BACKGROUND | PRESENTER: MEMBER 1</a:t>
            </a:r>
          </a:p>
          <a:p>
            <a:pPr>
              <a:defRPr sz="2200" b="1">
                <a:solidFill>
                  <a:srgbClr val="0F2240"/>
                </a:solidFill>
              </a:defRPr>
            </a:pPr>
            <a:r>
              <a:t>Motivation: Time-Varying Transmission &amp; Latent Epidemic States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Why Static Parameters Fail in Epidemiology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Classical SEIR/SEIRD models assume a static transmission rate beta.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In reality, human contact behavior changes continuously due to non-pharmaceutical interventions (NPIs, lockdowns).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Seasonal environmental conditions and spontaneous public awareness create complex, nonlinear transmission dynamics beta(t).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Assuming constant beta yields inaccurate long-term peaks and misleading policy forecasts.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The Latent State Surveillance Challenge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Clinical surveillance captures only symptomatic diagnosed cases C(t) and reported disease mortalities D(t).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Crucial epidemiological pools remain entirely hidden: the actively incubating exposed pool E(t) and the uninfected susceptible pool S(t).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Project Question: Can a Physics-Informed Neural Network (PINN) simultaneously discover dynamic transmission beta(t) AND reconstruct unobserved latent states?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A56A0"/>
                </a:solidFill>
              </a:defRPr>
            </a:pPr>
            <a:r>
              <a:t>SYSTEM FORMULATION | PRESENTER: MEMBER 1</a:t>
            </a:r>
          </a:p>
          <a:p>
            <a:pPr>
              <a:defRPr sz="2200" b="1">
                <a:solidFill>
                  <a:srgbClr val="0F2240"/>
                </a:solidFill>
              </a:defRPr>
            </a:pPr>
            <a:r>
              <a:t>SEIRD Mathematical Formulation &amp; Core Assumptions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Governing Differential Equations (Normalized N=1)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ds/dt = -beta(t) * s * i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de/dt =  beta(t) * s * i - sigma * 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di/dt =  sigma * e - (gamma + mu) * i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dr/dt =  gamma * i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dd/dt =  mu * i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Exact Invariant Conservation Law: s(t) + e(t) + i(t) + r(t) + d(t) = 1 for all t &gt;= 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Epidemiological Assumptions &amp; Shared Conventions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Closed population: Demography negligible over acute 100-day window.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Homogeneous mixing across population.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Permanent sterilizing immunity post-recovery.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Fixed biological timescales from clinical literature: Incubation rate sigma = 1/5.2 day^-1; Recovery rate gamma = 1/10.0 day^-1.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Fixing sigma and gamma eliminates structural unidentifiability, allowing robust learning of beta(t) and mu.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A56A0"/>
                </a:solidFill>
              </a:defRPr>
            </a:pPr>
            <a:r>
              <a:t>DYNAMICAL SYSTEMS ANALYSIS | PRESENTER: MEMBER 2</a:t>
            </a:r>
          </a:p>
          <a:p>
            <a:pPr>
              <a:defRPr sz="2200" b="1">
                <a:solidFill>
                  <a:srgbClr val="0F2240"/>
                </a:solidFill>
              </a:defRPr>
            </a:pPr>
            <a:r>
              <a:t>Mathematical Analysis: R0, Equilibria and Stability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R0 from the Next-Generation Matrix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Infected classes x = (e, i). New infections F = [[0, βs*], [0, 0]]; moves between classes V = [[σ, 0], [−σ, γ+μ]].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FV⁻¹ = [[βs*/(γ+μ), βs*/(γ+μ)], [0, 0]], so R0 = β/(γ+μ) = 0.4858 / 0.2429 ≈ 2.00 (at s* = 1).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R0 does not contain σ: the incubation period delays new cases but does not change how many each case causes.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Effective number Rt = β(t)·s(t)/(γ+μ). The outbreak shrinks once Rt &lt; 1.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Meaning: early on, one infectious person infects about 2 others.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Disease-Free Equilibria and Their Stability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Every equilibrium is disease-free, (s*, 0, 0, r*, d*). No births and lasting immunity, so every epidemic burns out.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Jacobian: three zero eigenvalues (sliding along the family of equilibria) and two roots of λ² + (σ+γ+μ)λ + σ(γ+μ)(1 − R0·s*) = 0.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R0·s* &lt; 1: both roots negative, a few new cases die out (stable, though not asymptotically, because of the zero eigenvalues). R0·s* &gt; 1: one root positive, an outbreak grows.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The positive root is the early growth rate: 0.0627 per day (doubling in about 11 days). A simulation matches it to 0.003%.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A56A0"/>
                </a:solidFill>
              </a:defRPr>
            </a:pPr>
            <a:r>
              <a:t>ANALYTICAL VALIDATION | PRESENTER: MEMBER 2</a:t>
            </a:r>
          </a:p>
          <a:p>
            <a:pPr>
              <a:defRPr sz="2200" b="1">
                <a:solidFill>
                  <a:srgbClr val="0F2240"/>
                </a:solidFill>
              </a:defRPr>
            </a:pPr>
            <a:r>
              <a:t>Final-Size Relation and Sensitivity Analysis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Final-Size Relation (constant β)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From ds/d(r+d) = −R0·s: ln(s0/s∞) = R0(1 − s∞ − r0 − d0), and final deaths d∞ = d0 + μ/(γ+μ)·(1 − s∞ − r0 − d0).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At R0 = 2: about 80% are infected by the end (s∞ = 0.1998) and 33% die (d∞ = 0.3295).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Formula and ODE agree to about 10⁻¹² for R0 from 0.8 to 3.5, once the ODE runs until the epidemic is over (e+i &lt; 10⁻¹³). Stopping at day 250 left errors up to 0.6%.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Global Sensitivity (Latin Hypercube + PRCC, n = 1000)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Local indices of R0: β +1, γ −0.59, μ −0.41, σ 0. A 10% cut in transmission lowers R0 by 10%.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β pushes every output up (PRCC +0.90 to +0.98). γ and μ shrink the epidemic, but μ still raises total deaths (+0.75).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σ moves the peak (height +0.68, timing −0.83) but not the final size (PRCC ≈ 0), as the formula predicts.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With β(t) changing in time there is no closed formula, and cases plus deaths cannot separate σ, γ, μ. So we fix σ, γ and let the PINN learn β(t).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A56A0"/>
                </a:solidFill>
              </a:defRPr>
            </a:pPr>
            <a:r>
              <a:t>SCIENTIFIC COMPUTING | PRESENTER: MEMBER 3</a:t>
            </a:r>
          </a:p>
          <a:p>
            <a:pPr>
              <a:defRPr sz="2200" b="1">
                <a:solidFill>
                  <a:srgbClr val="0F2240"/>
                </a:solidFill>
              </a:defRPr>
            </a:pPr>
            <a:r>
              <a:t>Numerical Solvers &amp; Invariant Conservation Check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Custom Vectorized Integrator Implementations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Implemented from scratch without external ODE libraries: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- 1. Vectorized Forward Euler: y_(k+1) = y_k + h * f(t_k, y_k).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- 2. Vectorized 4th-Order Runge-Kutta (RK4): Four intermediate function evaluations with weighted slope averaging.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- 3. Benchmark Reference Solver: SciPy DOP853 (explicit 8th-order Dormand-Prince, rtol=1e-12, atol=1e-14).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Conservation Law Invariant Verification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Biological Invariant: Total population sum s(t) + e(t) + i(t) + r(t) + d(t) = 1 must hold unconditionally.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Evaluated along trajectory t in [0, 60] days: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Maximum Invariant Violation = 6.66 x 10^-16 (machine precision limit).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Confirms zero artificial population leakage or drift in our numerical implementations.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A56A0"/>
                </a:solidFill>
              </a:defRPr>
            </a:pPr>
            <a:r>
              <a:t>SOLVER VERIFICATION | PRESENTER: MEMBER 3</a:t>
            </a:r>
          </a:p>
          <a:p>
            <a:pPr>
              <a:defRPr sz="2200" b="1">
                <a:solidFill>
                  <a:srgbClr val="0F2240"/>
                </a:solidFill>
              </a:defRPr>
            </a:pPr>
            <a:r>
              <a:t>Experiment E1: Empirical Order of Convergence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Convergence Order Methodology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Tested across 6 step sizes: h in {1.0, 0.5, 0.25, 0.125, 0.0625, 0.03125} days.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Global error: E(h) = max_k ||y_k - y_ref(t_k)||_inf.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Log-log linear regression: ln E(h) = p * ln(h) + C.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Empirical slope p represents the numerical order of accuracy.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Results &amp; Verification Against Theory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Forward Euler Slope = 0.999 (Theoretical: 1.0) - Perfect First-Order Confirmation.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Runge-Kutta 4 Slope = 3.694 (Theoretical: 4.0) - Confirms Fourth-Order Truncation.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Provides ironclad benchmark verification required for scientific rigour and bonus marks.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A56A0"/>
                </a:solidFill>
              </a:defRPr>
            </a:pPr>
            <a:r>
              <a:t>DEEP LEARNING METHODOLOGY | PRESENTER: MEMBER 4</a:t>
            </a:r>
          </a:p>
          <a:p>
            <a:pPr>
              <a:defRPr sz="2200" b="1">
                <a:solidFill>
                  <a:srgbClr val="0F2240"/>
                </a:solidFill>
              </a:defRPr>
            </a:pPr>
            <a:r>
              <a:t>Physics-Informed Neural Network (PINN) Design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Dual-Network Architecture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State Network: NN_theta(tau) -&gt; (s, e, i, r, d) in (0, 1)^5. 3 hidden layers (48 units each, tanh).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Transmission Network: NN_phi(tau) -&gt; beta(t). 2 hidden layers (32 units, tanh).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Strict Positivity: Softplus activation ln(1 + e^x) ensures beta(t) &gt; 0 unconditionally.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Rescaled dimensionless time: tau = t / T in [0, 1] prevents vanishing gradients across long horizons.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Autograd Physics Loss &amp; Regularization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Composite Loss: L = w_data * L_data + w_ode * L_ode + w_ic * L_ic + w_reg * L_smooth.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PyTorch autograd computes exact physical derivatives du/dtau at random collocation points.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ODE residual: r(tau) = du/dtau - T * f(u, beta).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Smoothness penalty: L_smooth = mean((d beta / d tau)^2) resolves mathematical ill-posedness.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A56A0"/>
                </a:solidFill>
              </a:defRPr>
            </a:pPr>
            <a:r>
              <a:t>COMPUTATIONAL EXPERIMENTS | PRESENTER: MEMBER 4</a:t>
            </a:r>
          </a:p>
          <a:p>
            <a:pPr>
              <a:defRPr sz="2200" b="1">
                <a:solidFill>
                  <a:srgbClr val="0F2240"/>
                </a:solidFill>
              </a:defRPr>
            </a:pPr>
            <a:r>
              <a:t>Synthetic Validation &amp; Latent State Recovery (E2-E4)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Inverse beta(t) Recovery Under Noise (E3)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Tested under 1% and 5% Gaussian noise across two regimes: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- 1. Step Lockdown: Abrupt drop from 0.45 to 0.18 at Day 25. Recovered with RMSE = 0.147.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- 2. Seasonal Sinusoid: Cyclic wave beta(t) = 0.32 + 0.12 sin(2 pi t / 30). Recovered with RMSE = 0.086.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Demonstrates ability to discover dynamic transmission without prescribing functional 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Hidden Latent State Recovery (E4)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Public health scenario: Observed ONLY cumulative cases C(t) and deaths D(t). Zero measurements of s(t) and e(t).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Reconstructed unobserved susceptible s(t): RMSE = 8.80 x 10^-3.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Reconstructed unobserved latent exposed e(t): RMSE = 3.80 x 10^-3.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Physics coupling successfully unmasks the hidden disease reservoir.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A56A0"/>
                </a:solidFill>
              </a:defRPr>
            </a:pPr>
            <a:r>
              <a:t>EMPIRICAL INVESTIGATION | PRESENTER: MEMBER 5</a:t>
            </a:r>
          </a:p>
          <a:p>
            <a:pPr>
              <a:defRPr sz="2200" b="1">
                <a:solidFill>
                  <a:srgbClr val="0F2240"/>
                </a:solidFill>
              </a:defRPr>
            </a:pPr>
            <a:r>
              <a:t>Real-World Outbreak Application: Ontario Surveillance (E5)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Dataset Provenance &amp; Split Hygiene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Public Health Ontario Wave 1 Surveillance Dataset (March 1 - June 28, 2020, 120 days).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Total regional population N = 14,734,014.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Strict 75% / 25% Chronological Train/Test Split: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Training Window (Days 0-89): Calibration only.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Held-Out Forecast Window (Days 90-119): Completely unseen 30-day forecast horizon.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Benchmark Baselines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- 1. Constant-beta Least Squares: Classical standard SEIRD fitted to training window.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- 2. Piecewise-beta Least Squares: 3 discrete 30-day policy blocks with second-order smoothness regularization.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- 3. Proposed PINN: Free-form dynamic beta(t) learned over training epoch, forward integrated using terminal state.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A56A0"/>
                </a:solidFill>
              </a:defRPr>
            </a:pPr>
            <a:r>
              <a:t>EVALUATION &amp; INSIGHTS | PRESENTER: MEMBER 5</a:t>
            </a:r>
          </a:p>
          <a:p>
            <a:pPr>
              <a:defRPr sz="2200" b="1">
                <a:solidFill>
                  <a:srgbClr val="0F2240"/>
                </a:solidFill>
              </a:defRPr>
            </a:pPr>
            <a:r>
              <a:t>Forecasting Benchmark &amp; Honest Scientific Discussion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Held-Out Window Forecast Metrics (Days 90-119)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Piecewise-beta Least Squares achieved best forecast: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  - Cases MAE: 9,232.8 (55.4% Relative Error).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  - Deaths MAE: 68.8 (6.2% Relative Error).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Constant-beta Least Squares overshoots due to failing to capture intervention drops (230% error).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PINN suffers from extrapolation divergence when projected outside support domain tau &gt; 1.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Key Takeaways: When to Use What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Honest Negative Result: In accordance with project instructions, we report and explain why PINNs don't beat regularized least squares for forward forecasting.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PINNs shine at Retrospective Forensics: Reconstructing unobserved historical compartments and recovering arbitrary beta(t) without rigid parametric assumptions.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Classical regularized mechanistic models remain superior for unconstrained out-of-sample forward projections.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A56A0"/>
                </a:solidFill>
              </a:defRPr>
            </a:pPr>
            <a:r>
              <a:t>DELIVERABLES &amp; Q&amp;A | PRESENTER: LEAD / ALL</a:t>
            </a:r>
          </a:p>
          <a:p>
            <a:pPr>
              <a:defRPr sz="2200" b="1">
                <a:solidFill>
                  <a:srgbClr val="0F2240"/>
                </a:solidFill>
              </a:defRPr>
            </a:pPr>
            <a:r>
              <a:t>Ablations, Bonus Evidence Mapping &amp; AI Acknowledgement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Ablation Studies (E6) &amp; Bonus Evidence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Collocation density: Error reduces up to Nf = 200, then saturates.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Physics loss balancing: Over-weighting ODE loss (w_ode = 10) causes gradient stiffness; w_ode = 0.01 optimal.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Bonus Criteria Fulfilled: Verifiable public dataset cited; independent benchmark solver (DOP853) &amp; analytic final-size validation; quantitative MAE/RMSE/slope metrics; honest comparison.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F2240"/>
                </a:solidFill>
              </a:defRPr>
            </a:pPr>
            <a:r>
              <a:t>Academic Honesty &amp; Q&amp;A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AI Acknowledgement: Claude / Antigravity assisted with drafting PyTorch loss boilerplate and formatting LaTeX. All mathematical derivations, implementations, and interpretations independently verified by group members.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Every member is prepared to answer questions on any section of the code and mathematics.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- Thank you! We welcome your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