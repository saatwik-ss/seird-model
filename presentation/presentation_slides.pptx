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3C5FD"/>
                </a:solidFill>
              </a:defRPr>
            </a:pPr>
            <a:r>
              <a:t>Mathematical Modelling Group Project</a:t>
            </a:r>
          </a:p>
          <a:p>
            <a:pPr>
              <a:spcAft>
                <a:spcPts val="2000"/>
              </a:spcAft>
              <a:defRPr sz="2600" b="1">
                <a:solidFill>
                  <a:srgbClr val="FFFFFF"/>
                </a:solidFill>
              </a:defRPr>
            </a:pPr>
            <a:r>
              <a:t>Physics-Informed Neural Networks for Parameter Estimation &amp; Hidden-State Recovery in an SEIRD Model</a:t>
            </a:r>
          </a:p>
          <a:p>
            <a:pPr>
              <a:defRPr sz="1400" b="1">
                <a:solidFill>
                  <a:srgbClr val="E2E8F0"/>
                </a:solidFill>
              </a:defRPr>
            </a:pPr>
            <a:r>
              <a:t>Group Structure &amp; Member Contributions (10-Minute Presentation):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  - Member 1 (Lead): Motivation, Problem Statement, SEIRD Formulation, Technical Coordination (~2 min)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  - Member 2: Mathematical Analysis: R0, Next-Generation Matrix, DFE Stability, Final Size, Sensitivity (~2 min)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  - Member 3: Vectorized Solvers (Euler, RK4), Conservation Laws, E1 Order of Convergence (~2 min)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  - Member 4: PINN Deep Learning Architecture, Loss Function, E2-E4 Synthetic &amp; Latent Recovery (~2 min)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  - Member 5: Real-World Outbreak Application (E5), Baselines, Forecasting Benchmark, Limitations (~2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A56A0"/>
                </a:solidFill>
              </a:defRPr>
            </a:pPr>
            <a:r>
              <a:t>PROBLEM &amp; BACKGROUND | PRESENTER: MEMBER 1</a:t>
            </a:r>
          </a:p>
          <a:p>
            <a:pPr>
              <a:defRPr sz="2200" b="1">
                <a:solidFill>
                  <a:srgbClr val="0F2240"/>
                </a:solidFill>
              </a:defRPr>
            </a:pPr>
            <a:r>
              <a:t>Motivation: Time-Varying Transmission &amp; Latent Epidemic States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2240"/>
                </a:solidFill>
              </a:defRPr>
            </a:pPr>
            <a:r>
              <a:t>Why Static Parameters Fail in Epidemiology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Classical SEIR/SEIRD models assume a static transmission rate beta.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In reality, human contact behavior changes continuously due to non-pharmaceutical interventions (NPIs, lockdowns).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Seasonal environmental conditions and spontaneous public awareness create complex, nonlinear transmission dynamics beta(t).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Assuming constant beta yields inaccurate long-term peaks and misleading policy forecasts.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2240"/>
                </a:solidFill>
              </a:defRPr>
            </a:pPr>
            <a:r>
              <a:t>The Latent State Surveillance Challenge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Clinical surveillance captures only symptomatic diagnosed cases C(t) and reported disease mortalities D(t).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Crucial epidemiological pools remain entirely hidden: the actively incubating exposed pool E(t) and the uninfected susceptible pool S(t).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Project Question: Can a Physics-Informed Neural Network (PINN) simultaneously discover dynamic transmission beta(t) AND reconstruct unobserved latent states?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A56A0"/>
                </a:solidFill>
              </a:defRPr>
            </a:pPr>
            <a:r>
              <a:t>SYSTEM FORMULATION | PRESENTER: MEMBER 1</a:t>
            </a:r>
          </a:p>
          <a:p>
            <a:pPr>
              <a:defRPr sz="2200" b="1">
                <a:solidFill>
                  <a:srgbClr val="0F2240"/>
                </a:solidFill>
              </a:defRPr>
            </a:pPr>
            <a:r>
              <a:t>SEIRD Mathematical Formulation &amp; Core Assumptions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2240"/>
                </a:solidFill>
              </a:defRPr>
            </a:pPr>
            <a:r>
              <a:t>Governing Differential Equations (Normalized N=1)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ds/dt = -beta(t) * s * i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de/dt =  beta(t) * s * i - sigma * 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di/dt =  sigma * e - (gamma + mu) * i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dr/dt =  gamma * i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dd/dt =  mu * i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Exact Invariant Conservation Law: s(t) + e(t) + i(t) + r(t) + d(t) = 1 for all t &gt;= 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2240"/>
                </a:solidFill>
              </a:defRPr>
            </a:pPr>
            <a:r>
              <a:t>Epidemiological Assumptions &amp; Shared Conventions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Closed population: Demography negligible over acute 100-day window.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Homogeneous mixing across population.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Permanent sterilizing immunity post-recovery.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Fixed biological timescales from clinical literature: Incubation rate sigma = 1/5.2 day^-1; Recovery rate gamma = 1/10.0 day^-1.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Fixing sigma and gamma eliminates structural unidentifiability, allowing robust learning of beta(t) and mu.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A56A0"/>
                </a:solidFill>
              </a:defRPr>
            </a:pPr>
            <a:r>
              <a:t>DYNAMICAL SYSTEMS ANALYSIS | PRESENTER: MEMBER 2</a:t>
            </a:r>
          </a:p>
          <a:p>
            <a:pPr>
              <a:defRPr sz="2200" b="1">
                <a:solidFill>
                  <a:srgbClr val="0F2240"/>
                </a:solidFill>
              </a:defRPr>
            </a:pPr>
            <a:r>
              <a:rPr lang="en-GB" sz="2200" b="1" dirty="0">
                <a:solidFill>
                  <a:srgbClr val="0F2240"/>
                </a:solidFill>
                <a:latin typeface="+mn-lt"/>
              </a:rPr>
              <a:t>Mathematical Analysis: R</a:t>
            </a:r>
            <a:r>
              <a:rPr lang="en-GB" sz="2200" b="1" baseline="-25000" dirty="0">
                <a:solidFill>
                  <a:srgbClr val="0F2240"/>
                </a:solidFill>
                <a:latin typeface="+mn-lt"/>
              </a:rPr>
              <a:t>0</a:t>
            </a:r>
            <a:r>
              <a:rPr lang="en-GB" sz="2200" b="1" dirty="0">
                <a:solidFill>
                  <a:srgbClr val="0F2240"/>
                </a:solidFill>
                <a:latin typeface="+mn-lt"/>
              </a:rPr>
              <a:t>, Equilibria and Stability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Heading"/>
          <p:cNvSpPr txBox="1"/>
          <p:nvPr/>
        </p:nvSpPr>
        <p:spPr>
          <a:xfrm>
            <a:off x="960120" y="1828800"/>
            <a:ext cx="4663440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GB" sz="2000" b="1" dirty="0">
                <a:solidFill>
                  <a:srgbClr val="0F2240"/>
                </a:solidFill>
                <a:latin typeface="+mn-lt"/>
              </a:rPr>
              <a:t>R</a:t>
            </a:r>
            <a:r>
              <a:rPr lang="en-GB" sz="2000" b="1" baseline="-25000" dirty="0">
                <a:solidFill>
                  <a:srgbClr val="0F2240"/>
                </a:solidFill>
                <a:latin typeface="+mn-lt"/>
              </a:rPr>
              <a:t>0</a:t>
            </a:r>
            <a:r>
              <a:rPr lang="en-GB" sz="2000" b="1" dirty="0">
                <a:solidFill>
                  <a:srgbClr val="0F2240"/>
                </a:solidFill>
                <a:latin typeface="+mn-lt"/>
              </a:rPr>
              <a:t xml:space="preserve"> from the next-generation matrix</a:t>
            </a:r>
          </a:p>
        </p:txBody>
      </p:sp>
      <p:sp>
        <p:nvSpPr>
          <p:cNvPr id="102" name="R0 callout"/>
          <p:cNvSpPr/>
          <p:nvPr/>
        </p:nvSpPr>
        <p:spPr>
          <a:xfrm>
            <a:off x="960120" y="2330000"/>
            <a:ext cx="4663440" cy="950000"/>
          </a:xfrm>
          <a:prstGeom prst="roundRect">
            <a:avLst>
              <a:gd name="adj" fmla="val 12000"/>
            </a:avLst>
          </a:prstGeom>
          <a:solidFill>
            <a:srgbClr val="EEF4FB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GB" sz="3400" b="1" dirty="0">
                <a:solidFill>
                  <a:srgbClr val="0F2240"/>
                </a:solidFill>
                <a:latin typeface="+mn-lt"/>
              </a:rPr>
              <a:t>R</a:t>
            </a:r>
            <a:r>
              <a:rPr lang="en-GB" sz="3400" b="1" baseline="-25000" dirty="0">
                <a:solidFill>
                  <a:srgbClr val="0F2240"/>
                </a:solidFill>
                <a:latin typeface="+mn-lt"/>
              </a:rPr>
              <a:t>0</a:t>
            </a:r>
            <a:r>
              <a:rPr lang="en-GB" sz="3400" b="1" dirty="0">
                <a:solidFill>
                  <a:srgbClr val="0F2240"/>
                </a:solidFill>
                <a:latin typeface="+mn-lt"/>
              </a:rPr>
              <a:t xml:space="preserve"> = β / (γ + μ) ≈ 2.0</a:t>
            </a:r>
          </a:p>
        </p:txBody>
      </p:sp>
      <p:sp>
        <p:nvSpPr>
          <p:cNvPr id="103" name="R0 points"/>
          <p:cNvSpPr txBox="1"/>
          <p:nvPr/>
        </p:nvSpPr>
        <p:spPr>
          <a:xfrm>
            <a:off x="960120" y="3480000"/>
            <a:ext cx="4663440" cy="25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28600" indent="-228600">
              <a:spcAft>
                <a:spcPts val="1000"/>
              </a:spcAft>
              <a:buClr>
                <a:srgbClr val="1A56A0"/>
              </a:buClr>
              <a:buFont typeface="Arial"/>
              <a:buChar char="•"/>
            </a:pPr>
            <a:r>
              <a:rPr lang="en-GB" sz="1600" b="0" dirty="0">
                <a:solidFill>
                  <a:srgbClr val="1E293B"/>
                </a:solidFill>
                <a:latin typeface="+mn-lt"/>
              </a:rPr>
              <a:t>Split the (e, i) equations into new infections F and moves between classes V. R</a:t>
            </a:r>
            <a:r>
              <a:rPr lang="en-GB" sz="1600" b="0" baseline="-25000" dirty="0">
                <a:solidFill>
                  <a:srgbClr val="1E293B"/>
                </a:solidFill>
                <a:latin typeface="+mn-lt"/>
              </a:rPr>
              <a:t>0</a:t>
            </a:r>
            <a:r>
              <a:rPr lang="en-GB" sz="1600" b="0" dirty="0">
                <a:solidFill>
                  <a:srgbClr val="1E293B"/>
                </a:solidFill>
                <a:latin typeface="+mn-lt"/>
              </a:rPr>
              <a:t xml:space="preserve"> is the largest eigenvalue of FV</a:t>
            </a:r>
            <a:r>
              <a:rPr lang="en-GB" sz="1600" b="0" baseline="30000" dirty="0">
                <a:solidFill>
                  <a:srgbClr val="1E293B"/>
                </a:solidFill>
                <a:latin typeface="+mn-lt"/>
              </a:rPr>
              <a:t>−1</a:t>
            </a:r>
            <a:r>
              <a:rPr lang="en-GB" sz="1600" b="0" dirty="0">
                <a:solidFill>
                  <a:srgbClr val="1E293B"/>
                </a:solidFill>
                <a:latin typeface="+mn-lt"/>
              </a:rPr>
              <a:t>.</a:t>
            </a:r>
          </a:p>
          <a:p>
            <a:pPr algn="l" marL="228600" indent="-228600">
              <a:spcAft>
                <a:spcPts val="1000"/>
              </a:spcAft>
              <a:buClr>
                <a:srgbClr val="1A56A0"/>
              </a:buClr>
              <a:buFont typeface="Arial"/>
              <a:buChar char="•"/>
            </a:pPr>
            <a:r>
              <a:rPr lang="en-GB" sz="1600" b="0" dirty="0">
                <a:solidFill>
                  <a:srgbClr val="1E293B"/>
                </a:solidFill>
                <a:latin typeface="+mn-lt"/>
              </a:rPr>
              <a:t>Rate × time: 0.486 per day × 4.1 infectious days ≈ 2.</a:t>
            </a:r>
          </a:p>
          <a:p>
            <a:pPr algn="l" marL="228600" indent="-228600">
              <a:spcAft>
                <a:spcPts val="1000"/>
              </a:spcAft>
              <a:buClr>
                <a:srgbClr val="1A56A0"/>
              </a:buClr>
              <a:buFont typeface="Arial"/>
              <a:buChar char="•"/>
            </a:pPr>
            <a:r>
              <a:rPr lang="en-GB" sz="1600" b="0" dirty="0">
                <a:solidFill>
                  <a:srgbClr val="1E293B"/>
                </a:solidFill>
                <a:latin typeface="+mn-lt"/>
              </a:rPr>
              <a:t>σ drops out: incubation changes when people infect others, not how many.</a:t>
            </a:r>
          </a:p>
          <a:p>
            <a:pPr algn="l" marL="228600" indent="-228600">
              <a:buClr>
                <a:srgbClr val="1A56A0"/>
              </a:buClr>
              <a:buFont typeface="Arial"/>
              <a:buChar char="•"/>
            </a:pPr>
            <a:r>
              <a:rPr lang="en-GB" sz="1600" b="0" dirty="0">
                <a:solidFill>
                  <a:srgbClr val="1E293B"/>
                </a:solidFill>
                <a:latin typeface="+mn-lt"/>
              </a:rPr>
              <a:t>Over time, R</a:t>
            </a:r>
            <a:r>
              <a:rPr lang="en-GB" sz="1600" b="0" baseline="-25000" dirty="0">
                <a:solidFill>
                  <a:srgbClr val="1E293B"/>
                </a:solidFill>
                <a:latin typeface="+mn-lt"/>
              </a:rPr>
              <a:t>t</a:t>
            </a:r>
            <a:r>
              <a:rPr lang="en-GB" sz="1600" b="0" dirty="0">
                <a:solidFill>
                  <a:srgbClr val="1E293B"/>
                </a:solidFill>
                <a:latin typeface="+mn-lt"/>
              </a:rPr>
              <a:t xml:space="preserve"> = β(t) s(t) / (γ + μ); cases fall once R</a:t>
            </a:r>
            <a:r>
              <a:rPr lang="en-GB" sz="1600" b="0" baseline="-25000" dirty="0">
                <a:solidFill>
                  <a:srgbClr val="1E293B"/>
                </a:solidFill>
                <a:latin typeface="+mn-lt"/>
              </a:rPr>
              <a:t>t</a:t>
            </a:r>
            <a:r>
              <a:rPr lang="en-GB" sz="1600" b="0" dirty="0">
                <a:solidFill>
                  <a:srgbClr val="1E293B"/>
                </a:solidFill>
                <a:latin typeface="+mn-lt"/>
              </a:rPr>
              <a:t xml:space="preserve"> &lt; 1.</a:t>
            </a:r>
          </a:p>
        </p:txBody>
      </p:sp>
      <p:sp>
        <p:nvSpPr>
          <p:cNvPr id="104" name="Heading"/>
          <p:cNvSpPr txBox="1"/>
          <p:nvPr/>
        </p:nvSpPr>
        <p:spPr>
          <a:xfrm>
            <a:off x="6446520" y="1828800"/>
            <a:ext cx="4754880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GB" sz="2000" b="1" dirty="0">
                <a:solidFill>
                  <a:srgbClr val="0F2240"/>
                </a:solidFill>
                <a:latin typeface="+mn-lt"/>
              </a:rPr>
              <a:t>Equilibria and their stability</a:t>
            </a:r>
          </a:p>
        </p:txBody>
      </p:sp>
      <p:sp>
        <p:nvSpPr>
          <p:cNvPr id="105" name="Equilibria line"/>
          <p:cNvSpPr txBox="1"/>
          <p:nvPr/>
        </p:nvSpPr>
        <p:spPr>
          <a:xfrm>
            <a:off x="6446520" y="2330000"/>
            <a:ext cx="4754880" cy="3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GB" sz="1600" b="0" dirty="0">
                <a:solidFill>
                  <a:srgbClr val="1E293B"/>
                </a:solidFill>
                <a:latin typeface="+mn-lt"/>
              </a:rPr>
              <a:t>Every equilibrium is disease-free: (s*, 0, 0, r*, d*).</a:t>
            </a:r>
          </a:p>
        </p:txBody>
      </p:sp>
      <p:sp>
        <p:nvSpPr>
          <p:cNvPr id="106" name="Threshold callout"/>
          <p:cNvSpPr/>
          <p:nvPr/>
        </p:nvSpPr>
        <p:spPr>
          <a:xfrm>
            <a:off x="6446520" y="2740000"/>
            <a:ext cx="4754880" cy="700000"/>
          </a:xfrm>
          <a:prstGeom prst="roundRect">
            <a:avLst>
              <a:gd name="adj" fmla="val 12000"/>
            </a:avLst>
          </a:prstGeom>
          <a:solidFill>
            <a:srgbClr val="EEF4FB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GB" sz="2600" b="1" dirty="0">
                <a:solidFill>
                  <a:srgbClr val="0F2240"/>
                </a:solidFill>
                <a:latin typeface="+mn-lt"/>
              </a:rPr>
              <a:t>Threshold:  R</a:t>
            </a:r>
            <a:r>
              <a:rPr lang="en-GB" sz="2600" b="1" baseline="-25000" dirty="0">
                <a:solidFill>
                  <a:srgbClr val="0F2240"/>
                </a:solidFill>
                <a:latin typeface="+mn-lt"/>
              </a:rPr>
              <a:t>0</a:t>
            </a:r>
            <a:r>
              <a:rPr lang="en-GB" sz="2600" b="1" dirty="0">
                <a:solidFill>
                  <a:srgbClr val="0F2240"/>
                </a:solidFill>
                <a:latin typeface="+mn-lt"/>
              </a:rPr>
              <a:t xml:space="preserve"> s* = 1</a:t>
            </a:r>
          </a:p>
        </p:txBody>
      </p:sp>
      <p:graphicFrame>
        <p:nvGraphicFramePr>
          <p:cNvPr id="107" name="Eigenvalue table"/>
          <p:cNvGraphicFramePr>
            <a:graphicFrameLocks noGrp="1"/>
          </p:cNvGraphicFramePr>
          <p:nvPr/>
        </p:nvGraphicFramePr>
        <p:xfrm>
          <a:off x="6446520" y="3580000"/>
          <a:ext cx="4754880" cy="1650000"/>
        </p:xfrm>
        <a:graphic>
          <a:graphicData uri="http://schemas.openxmlformats.org/drawingml/2006/table">
            <a:tbl>
              <a:tblPr firstRow="1"/>
              <a:tblGrid>
                <a:gridCol w="1000000"/>
                <a:gridCol w="2354880"/>
                <a:gridCol w="1400000"/>
              </a:tblGrid>
              <a:tr h="33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1" dirty="0">
                          <a:solidFill>
                            <a:srgbClr val="FFFFFF"/>
                          </a:solidFill>
                          <a:latin typeface="+mn-lt"/>
                        </a:rPr>
                        <a:t>s*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1" dirty="0">
                          <a:solidFill>
                            <a:srgbClr val="FFFFFF"/>
                          </a:solidFill>
                          <a:latin typeface="+mn-lt"/>
                        </a:rPr>
                        <a:t>eigenvalues (e, i block)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1" dirty="0">
                          <a:solidFill>
                            <a:srgbClr val="FFFFFF"/>
                          </a:solidFill>
                          <a:latin typeface="+mn-lt"/>
                        </a:rPr>
                        <a:t>result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0F2240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0" dirty="0">
                          <a:solidFill>
                            <a:srgbClr val="1E293B"/>
                          </a:solidFill>
                          <a:latin typeface="+mn-lt"/>
                        </a:rPr>
                        <a:t>1.00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0" dirty="0">
                          <a:solidFill>
                            <a:srgbClr val="1E293B"/>
                          </a:solidFill>
                          <a:latin typeface="+mn-lt"/>
                        </a:rPr>
                        <a:t>−0.412,  +0.063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1" dirty="0">
                          <a:solidFill>
                            <a:srgbClr val="991B1B"/>
                          </a:solidFill>
                          <a:latin typeface="+mn-lt"/>
                        </a:rPr>
                        <a:t>unstable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DE2E2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0" dirty="0">
                          <a:solidFill>
                            <a:srgbClr val="1E293B"/>
                          </a:solidFill>
                          <a:latin typeface="+mn-lt"/>
                        </a:rPr>
                        <a:t>0.75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0" dirty="0">
                          <a:solidFill>
                            <a:srgbClr val="1E293B"/>
                          </a:solidFill>
                          <a:latin typeface="+mn-lt"/>
                        </a:rPr>
                        <a:t>−0.383,  +0.034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1" dirty="0">
                          <a:solidFill>
                            <a:srgbClr val="991B1B"/>
                          </a:solidFill>
                          <a:latin typeface="+mn-lt"/>
                        </a:rPr>
                        <a:t>unstable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DE2E2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0" dirty="0">
                          <a:solidFill>
                            <a:srgbClr val="1E293B"/>
                          </a:solidFill>
                          <a:latin typeface="+mn-lt"/>
                        </a:rPr>
                        <a:t>0.40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0" dirty="0">
                          <a:solidFill>
                            <a:srgbClr val="1E293B"/>
                          </a:solidFill>
                          <a:latin typeface="+mn-lt"/>
                        </a:rPr>
                        <a:t>−0.334,  −0.016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1" dirty="0">
                          <a:solidFill>
                            <a:srgbClr val="1E3A8A"/>
                          </a:solidFill>
                          <a:latin typeface="+mn-lt"/>
                        </a:rPr>
                        <a:t>stable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DBEAFE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0" dirty="0">
                          <a:solidFill>
                            <a:srgbClr val="1E293B"/>
                          </a:solidFill>
                          <a:latin typeface="+mn-lt"/>
                        </a:rPr>
                        <a:t>0.25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0" dirty="0">
                          <a:solidFill>
                            <a:srgbClr val="1E293B"/>
                          </a:solidFill>
                          <a:latin typeface="+mn-lt"/>
                        </a:rPr>
                        <a:t>−0.307,  −0.042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1" dirty="0">
                          <a:solidFill>
                            <a:srgbClr val="1E3A8A"/>
                          </a:solidFill>
                          <a:latin typeface="+mn-lt"/>
                        </a:rPr>
                        <a:t>stable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108" name="Stability points"/>
          <p:cNvSpPr txBox="1"/>
          <p:nvPr/>
        </p:nvSpPr>
        <p:spPr>
          <a:xfrm>
            <a:off x="6446520" y="5350000"/>
            <a:ext cx="4754880" cy="7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28600" indent="-228600">
              <a:spcAft>
                <a:spcPts val="500"/>
              </a:spcAft>
              <a:buClr>
                <a:srgbClr val="1A56A0"/>
              </a:buClr>
              <a:buFont typeface="Arial"/>
              <a:buChar char="•"/>
            </a:pPr>
            <a:r>
              <a:rPr lang="en-GB" sz="1400" b="0" dirty="0">
                <a:solidFill>
                  <a:srgbClr val="1E293B"/>
                </a:solidFill>
                <a:latin typeface="+mn-lt"/>
              </a:rPr>
              <a:t>Stable, not asymptotically: three eigenvalues are 0.</a:t>
            </a:r>
          </a:p>
          <a:p>
            <a:pPr algn="l" marL="228600" indent="-228600">
              <a:buClr>
                <a:srgbClr val="1A56A0"/>
              </a:buClr>
              <a:buFont typeface="Arial"/>
              <a:buChar char="•"/>
            </a:pPr>
            <a:r>
              <a:rPr lang="en-GB" sz="1400" b="0" dirty="0">
                <a:solidFill>
                  <a:srgbClr val="1E293B"/>
                </a:solidFill>
                <a:latin typeface="+mn-lt"/>
              </a:rPr>
              <a:t>Early growth λ</a:t>
            </a:r>
            <a:r>
              <a:rPr lang="en-GB" sz="1400" b="0" baseline="-25000" dirty="0">
                <a:solidFill>
                  <a:srgbClr val="1E293B"/>
                </a:solidFill>
                <a:latin typeface="+mn-lt"/>
              </a:rPr>
              <a:t>+</a:t>
            </a:r>
            <a:r>
              <a:rPr lang="en-GB" sz="1400" b="0" dirty="0">
                <a:solidFill>
                  <a:srgbClr val="1E293B"/>
                </a:solidFill>
                <a:latin typeface="+mn-lt"/>
              </a:rPr>
              <a:t xml:space="preserve"> = 0.0627/day (doubling ≈ 11 days).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A56A0"/>
                </a:solidFill>
              </a:defRPr>
            </a:pPr>
            <a:r>
              <a:t>ANALYTICAL VALIDATION | PRESENTER: MEMBER 2</a:t>
            </a:r>
          </a:p>
          <a:p>
            <a:pPr>
              <a:defRPr sz="2200" b="1">
                <a:solidFill>
                  <a:srgbClr val="0F2240"/>
                </a:solidFill>
              </a:defRPr>
            </a:pPr>
            <a:r>
              <a:rPr lang="en-GB" sz="2200" b="1" dirty="0">
                <a:solidFill>
                  <a:srgbClr val="0F2240"/>
                </a:solidFill>
                <a:latin typeface="+mn-lt"/>
              </a:rPr>
              <a:t>Final-Size Relation and Sensitivity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Heading"/>
          <p:cNvSpPr txBox="1"/>
          <p:nvPr/>
        </p:nvSpPr>
        <p:spPr>
          <a:xfrm>
            <a:off x="960120" y="1828800"/>
            <a:ext cx="4663440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GB" sz="2000" b="1" dirty="0">
                <a:solidFill>
                  <a:srgbClr val="0F2240"/>
                </a:solidFill>
                <a:latin typeface="+mn-lt"/>
              </a:rPr>
              <a:t>Final-size relation (constant β)</a:t>
            </a:r>
          </a:p>
        </p:txBody>
      </p:sp>
      <p:sp>
        <p:nvSpPr>
          <p:cNvPr id="110" name="Final size callout"/>
          <p:cNvSpPr/>
          <p:nvPr/>
        </p:nvSpPr>
        <p:spPr>
          <a:xfrm>
            <a:off x="960120" y="2330000"/>
            <a:ext cx="4663440" cy="800000"/>
          </a:xfrm>
          <a:prstGeom prst="roundRect">
            <a:avLst>
              <a:gd name="adj" fmla="val 12000"/>
            </a:avLst>
          </a:prstGeom>
          <a:solidFill>
            <a:srgbClr val="EEF4FB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buNone/>
            </a:pPr>
            <a:r>
              <a:rPr lang="en-GB" sz="2400" b="1" dirty="0">
                <a:solidFill>
                  <a:srgbClr val="0F2240"/>
                </a:solidFill>
                <a:latin typeface="+mn-lt"/>
              </a:rPr>
              <a:t>ln(s</a:t>
            </a:r>
            <a:r>
              <a:rPr lang="en-GB" sz="2400" b="1" baseline="-25000" dirty="0">
                <a:solidFill>
                  <a:srgbClr val="0F2240"/>
                </a:solidFill>
                <a:latin typeface="+mn-lt"/>
              </a:rPr>
              <a:t>0</a:t>
            </a:r>
            <a:r>
              <a:rPr lang="en-GB" sz="2400" b="1" dirty="0">
                <a:solidFill>
                  <a:srgbClr val="0F2240"/>
                </a:solidFill>
                <a:latin typeface="+mn-lt"/>
              </a:rPr>
              <a:t>/s</a:t>
            </a:r>
            <a:r>
              <a:rPr lang="en-GB" sz="2400" b="1" baseline="-25000" dirty="0">
                <a:solidFill>
                  <a:srgbClr val="0F2240"/>
                </a:solidFill>
                <a:latin typeface="+mn-lt"/>
              </a:rPr>
              <a:t>∞</a:t>
            </a:r>
            <a:r>
              <a:rPr lang="en-GB" sz="2400" b="1" dirty="0">
                <a:solidFill>
                  <a:srgbClr val="0F2240"/>
                </a:solidFill>
                <a:latin typeface="+mn-lt"/>
              </a:rPr>
              <a:t>) = R</a:t>
            </a:r>
            <a:r>
              <a:rPr lang="en-GB" sz="2400" b="1" baseline="-25000" dirty="0">
                <a:solidFill>
                  <a:srgbClr val="0F2240"/>
                </a:solidFill>
                <a:latin typeface="+mn-lt"/>
              </a:rPr>
              <a:t>0</a:t>
            </a:r>
            <a:r>
              <a:rPr lang="en-GB" sz="2400" b="1" dirty="0">
                <a:solidFill>
                  <a:srgbClr val="0F2240"/>
                </a:solidFill>
                <a:latin typeface="+mn-lt"/>
              </a:rPr>
              <a:t xml:space="preserve"> (1 − s</a:t>
            </a:r>
            <a:r>
              <a:rPr lang="en-GB" sz="2400" b="1" baseline="-25000" dirty="0">
                <a:solidFill>
                  <a:srgbClr val="0F2240"/>
                </a:solidFill>
                <a:latin typeface="+mn-lt"/>
              </a:rPr>
              <a:t>∞</a:t>
            </a:r>
            <a:r>
              <a:rPr lang="en-GB" sz="2400" b="1" dirty="0">
                <a:solidFill>
                  <a:srgbClr val="0F2240"/>
                </a:solidFill>
                <a:latin typeface="+mn-lt"/>
              </a:rPr>
              <a:t xml:space="preserve"> − r</a:t>
            </a:r>
            <a:r>
              <a:rPr lang="en-GB" sz="2400" b="1" baseline="-25000" dirty="0">
                <a:solidFill>
                  <a:srgbClr val="0F2240"/>
                </a:solidFill>
                <a:latin typeface="+mn-lt"/>
              </a:rPr>
              <a:t>0</a:t>
            </a:r>
            <a:r>
              <a:rPr lang="en-GB" sz="2400" b="1" dirty="0">
                <a:solidFill>
                  <a:srgbClr val="0F2240"/>
                </a:solidFill>
                <a:latin typeface="+mn-lt"/>
              </a:rPr>
              <a:t xml:space="preserve"> − d</a:t>
            </a:r>
            <a:r>
              <a:rPr lang="en-GB" sz="2400" b="1" baseline="-25000" dirty="0">
                <a:solidFill>
                  <a:srgbClr val="0F2240"/>
                </a:solidFill>
                <a:latin typeface="+mn-lt"/>
              </a:rPr>
              <a:t>0</a:t>
            </a:r>
            <a:r>
              <a:rPr lang="en-GB" sz="2400" b="1" dirty="0">
                <a:solidFill>
                  <a:srgbClr val="0F2240"/>
                </a:solidFill>
                <a:latin typeface="+mn-lt"/>
              </a:rPr>
              <a:t>)</a:t>
            </a:r>
          </a:p>
        </p:txBody>
      </p:sp>
      <p:sp>
        <p:nvSpPr>
          <p:cNvPr id="111" name="Stat 1"/>
          <p:cNvSpPr txBox="1"/>
          <p:nvPr/>
        </p:nvSpPr>
        <p:spPr>
          <a:xfrm>
            <a:off x="960120" y="3300000"/>
            <a:ext cx="2240280" cy="1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GB" sz="5400" b="1" dirty="0">
                <a:solidFill>
                  <a:srgbClr val="1A56A0"/>
                </a:solidFill>
                <a:latin typeface="+mn-lt"/>
              </a:rPr>
              <a:t>80%</a:t>
            </a:r>
          </a:p>
          <a:p>
            <a:pPr algn="l">
              <a:buNone/>
            </a:pPr>
            <a:r>
              <a:rPr lang="en-GB" sz="1400" b="0" dirty="0">
                <a:solidFill>
                  <a:srgbClr val="475569"/>
                </a:solidFill>
                <a:latin typeface="+mn-lt"/>
              </a:rPr>
              <a:t>infected by the end (R</a:t>
            </a:r>
            <a:r>
              <a:rPr lang="en-GB" sz="1400" b="0" baseline="-25000" dirty="0">
                <a:solidFill>
                  <a:srgbClr val="475569"/>
                </a:solidFill>
                <a:latin typeface="+mn-lt"/>
              </a:rPr>
              <a:t>0</a:t>
            </a:r>
            <a:r>
              <a:rPr lang="en-GB" sz="1400" b="0" dirty="0">
                <a:solidFill>
                  <a:srgbClr val="475569"/>
                </a:solidFill>
                <a:latin typeface="+mn-lt"/>
              </a:rPr>
              <a:t xml:space="preserve"> = 2)</a:t>
            </a:r>
          </a:p>
        </p:txBody>
      </p:sp>
      <p:sp>
        <p:nvSpPr>
          <p:cNvPr id="112" name="Stat 2"/>
          <p:cNvSpPr txBox="1"/>
          <p:nvPr/>
        </p:nvSpPr>
        <p:spPr>
          <a:xfrm>
            <a:off x="3383280" y="3300000"/>
            <a:ext cx="2240280" cy="12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GB" sz="5400" b="1" dirty="0">
                <a:solidFill>
                  <a:srgbClr val="1A56A0"/>
                </a:solidFill>
                <a:latin typeface="+mn-lt"/>
              </a:rPr>
              <a:t>33%</a:t>
            </a:r>
          </a:p>
          <a:p>
            <a:pPr algn="l">
              <a:buNone/>
            </a:pPr>
            <a:r>
              <a:rPr lang="en-GB" sz="1400" b="0" dirty="0">
                <a:solidFill>
                  <a:srgbClr val="475569"/>
                </a:solidFill>
                <a:latin typeface="+mn-lt"/>
              </a:rPr>
              <a:t>die (41% of those infected)</a:t>
            </a:r>
          </a:p>
        </p:txBody>
      </p:sp>
      <p:sp>
        <p:nvSpPr>
          <p:cNvPr id="113" name="Final size points"/>
          <p:cNvSpPr txBox="1"/>
          <p:nvPr/>
        </p:nvSpPr>
        <p:spPr>
          <a:xfrm>
            <a:off x="960120" y="4720000"/>
            <a:ext cx="4663440" cy="131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28600" indent="-228600">
              <a:spcAft>
                <a:spcPts val="1000"/>
              </a:spcAft>
              <a:buClr>
                <a:srgbClr val="1A56A0"/>
              </a:buClr>
              <a:buFont typeface="Arial"/>
              <a:buChar char="•"/>
            </a:pPr>
            <a:r>
              <a:rPr lang="en-GB" sz="1600" b="0" dirty="0">
                <a:solidFill>
                  <a:srgbClr val="1E293B"/>
                </a:solidFill>
                <a:latin typeface="+mn-lt"/>
              </a:rPr>
              <a:t>Formula and ODE agree to about 10</a:t>
            </a:r>
            <a:r>
              <a:rPr lang="en-GB" sz="1600" b="0" baseline="30000" dirty="0">
                <a:solidFill>
                  <a:srgbClr val="1E293B"/>
                </a:solidFill>
                <a:latin typeface="+mn-lt"/>
              </a:rPr>
              <a:t>−12</a:t>
            </a:r>
            <a:r>
              <a:rPr lang="en-GB" sz="1600" b="0" dirty="0">
                <a:solidFill>
                  <a:srgbClr val="1E293B"/>
                </a:solidFill>
                <a:latin typeface="+mn-lt"/>
              </a:rPr>
              <a:t xml:space="preserve"> for R</a:t>
            </a:r>
            <a:r>
              <a:rPr lang="en-GB" sz="1600" b="0" baseline="-25000" dirty="0">
                <a:solidFill>
                  <a:srgbClr val="1E293B"/>
                </a:solidFill>
                <a:latin typeface="+mn-lt"/>
              </a:rPr>
              <a:t>0</a:t>
            </a:r>
            <a:r>
              <a:rPr lang="en-GB" sz="1600" b="0" dirty="0">
                <a:solidFill>
                  <a:srgbClr val="1E293B"/>
                </a:solidFill>
                <a:latin typeface="+mn-lt"/>
              </a:rPr>
              <a:t xml:space="preserve"> from 0.8 to 3.5.</a:t>
            </a:r>
          </a:p>
          <a:p>
            <a:pPr algn="l" marL="228600" indent="-228600">
              <a:buClr>
                <a:srgbClr val="1A56A0"/>
              </a:buClr>
              <a:buFont typeface="Arial"/>
              <a:buChar char="•"/>
            </a:pPr>
            <a:r>
              <a:rPr lang="en-GB" sz="1600" b="0" dirty="0">
                <a:solidFill>
                  <a:srgbClr val="1E293B"/>
                </a:solidFill>
                <a:latin typeface="+mn-lt"/>
              </a:rPr>
              <a:t>Run the ODE until the epidemic ends. Stopping at day 250 gave errors up to 3.6%.</a:t>
            </a:r>
          </a:p>
        </p:txBody>
      </p:sp>
      <p:sp>
        <p:nvSpPr>
          <p:cNvPr id="114" name="Heading"/>
          <p:cNvSpPr txBox="1"/>
          <p:nvPr/>
        </p:nvSpPr>
        <p:spPr>
          <a:xfrm>
            <a:off x="6446520" y="1828800"/>
            <a:ext cx="4754880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GB" sz="2000" b="1" dirty="0">
                <a:solidFill>
                  <a:srgbClr val="0F2240"/>
                </a:solidFill>
                <a:latin typeface="+mn-lt"/>
              </a:rPr>
              <a:t>Sensitivity: Latin hypercube + PRCC</a:t>
            </a:r>
          </a:p>
        </p:txBody>
      </p:sp>
      <p:graphicFrame>
        <p:nvGraphicFramePr>
          <p:cNvPr id="115" name="PRCC table"/>
          <p:cNvGraphicFramePr>
            <a:graphicFrameLocks noGrp="1"/>
          </p:cNvGraphicFramePr>
          <p:nvPr/>
        </p:nvGraphicFramePr>
        <p:xfrm>
          <a:off x="6446520" y="2330000"/>
          <a:ext cx="4754880" cy="2000000"/>
        </p:xfrm>
        <a:graphic>
          <a:graphicData uri="http://schemas.openxmlformats.org/drawingml/2006/table">
            <a:tbl>
              <a:tblPr firstRow="1"/>
              <a:tblGrid>
                <a:gridCol w="674880"/>
                <a:gridCol w="1020000"/>
                <a:gridCol w="1020000"/>
                <a:gridCol w="1020000"/>
                <a:gridCol w="1020000"/>
              </a:tblGrid>
              <a:tr h="4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1" dirty="0">
                          <a:solidFill>
                            <a:srgbClr val="FFFFFF"/>
                          </a:solidFill>
                          <a:latin typeface="+mn-lt"/>
                        </a:rPr>
                        <a:t>peak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1" dirty="0">
                          <a:solidFill>
                            <a:srgbClr val="FFFFFF"/>
                          </a:solidFill>
                          <a:latin typeface="+mn-lt"/>
                        </a:rPr>
                        <a:t>peak day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1" dirty="0">
                          <a:solidFill>
                            <a:srgbClr val="FFFFFF"/>
                          </a:solidFill>
                          <a:latin typeface="+mn-lt"/>
                        </a:rPr>
                        <a:t>attack rate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1" dirty="0">
                          <a:solidFill>
                            <a:srgbClr val="FFFFFF"/>
                          </a:solidFill>
                          <a:latin typeface="+mn-lt"/>
                        </a:rPr>
                        <a:t>deaths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0F2240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1" dirty="0">
                          <a:solidFill>
                            <a:srgbClr val="1E293B"/>
                          </a:solidFill>
                          <a:latin typeface="+mn-lt"/>
                        </a:rPr>
                        <a:t>β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0" dirty="0">
                          <a:solidFill>
                            <a:srgbClr val="1E3A8A"/>
                          </a:solidFill>
                          <a:latin typeface="+mn-lt"/>
                        </a:rPr>
                        <a:t>+0.96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0" dirty="0">
                          <a:solidFill>
                            <a:srgbClr val="991B1B"/>
                          </a:solidFill>
                          <a:latin typeface="+mn-lt"/>
                        </a:rPr>
                        <a:t>−0.96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D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0" dirty="0">
                          <a:solidFill>
                            <a:srgbClr val="1E3A8A"/>
                          </a:solidFill>
                          <a:latin typeface="+mn-lt"/>
                        </a:rPr>
                        <a:t>+0.98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0" dirty="0">
                          <a:solidFill>
                            <a:srgbClr val="1E3A8A"/>
                          </a:solidFill>
                          <a:latin typeface="+mn-lt"/>
                        </a:rPr>
                        <a:t>+0.90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DBEAFE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1" dirty="0">
                          <a:solidFill>
                            <a:srgbClr val="1E293B"/>
                          </a:solidFill>
                          <a:latin typeface="+mn-lt"/>
                        </a:rPr>
                        <a:t>σ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0" dirty="0">
                          <a:solidFill>
                            <a:srgbClr val="1E3A8A"/>
                          </a:solidFill>
                          <a:latin typeface="+mn-lt"/>
                        </a:rPr>
                        <a:t>+0.68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0" dirty="0">
                          <a:solidFill>
                            <a:srgbClr val="991B1B"/>
                          </a:solidFill>
                          <a:latin typeface="+mn-lt"/>
                        </a:rPr>
                        <a:t>−0.83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D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0" dirty="0">
                          <a:solidFill>
                            <a:srgbClr val="64748B"/>
                          </a:solidFill>
                          <a:latin typeface="+mn-lt"/>
                        </a:rPr>
                        <a:t>≈ 0 (n.s.)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0" dirty="0">
                          <a:solidFill>
                            <a:srgbClr val="64748B"/>
                          </a:solidFill>
                          <a:latin typeface="+mn-lt"/>
                        </a:rPr>
                        <a:t>≈ 0 (n.s.)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1" dirty="0">
                          <a:solidFill>
                            <a:srgbClr val="1E293B"/>
                          </a:solidFill>
                          <a:latin typeface="+mn-lt"/>
                        </a:rPr>
                        <a:t>γ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0" dirty="0">
                          <a:solidFill>
                            <a:srgbClr val="991B1B"/>
                          </a:solidFill>
                          <a:latin typeface="+mn-lt"/>
                        </a:rPr>
                        <a:t>−0.94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D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0" dirty="0">
                          <a:solidFill>
                            <a:srgbClr val="1E3A8A"/>
                          </a:solidFill>
                          <a:latin typeface="+mn-lt"/>
                        </a:rPr>
                        <a:t>+0.75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0" dirty="0">
                          <a:solidFill>
                            <a:srgbClr val="991B1B"/>
                          </a:solidFill>
                          <a:latin typeface="+mn-lt"/>
                        </a:rPr>
                        <a:t>−0.95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D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0" dirty="0">
                          <a:solidFill>
                            <a:srgbClr val="991B1B"/>
                          </a:solidFill>
                          <a:latin typeface="+mn-lt"/>
                        </a:rPr>
                        <a:t>−0.95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DE2E2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1" dirty="0">
                          <a:solidFill>
                            <a:srgbClr val="1E293B"/>
                          </a:solidFill>
                          <a:latin typeface="+mn-lt"/>
                        </a:rPr>
                        <a:t>μ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0" dirty="0">
                          <a:solidFill>
                            <a:srgbClr val="991B1B"/>
                          </a:solidFill>
                          <a:latin typeface="+mn-lt"/>
                        </a:rPr>
                        <a:t>−0.85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D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0" dirty="0">
                          <a:solidFill>
                            <a:srgbClr val="1E3A8A"/>
                          </a:solidFill>
                          <a:latin typeface="+mn-lt"/>
                        </a:rPr>
                        <a:t>+0.55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0" dirty="0">
                          <a:solidFill>
                            <a:srgbClr val="991B1B"/>
                          </a:solidFill>
                          <a:latin typeface="+mn-lt"/>
                        </a:rPr>
                        <a:t>−0.87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FD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500" b="0" dirty="0">
                          <a:solidFill>
                            <a:srgbClr val="1E3A8A"/>
                          </a:solidFill>
                          <a:latin typeface="+mn-lt"/>
                        </a:rPr>
                        <a:t>+0.75</a:t>
                      </a:r>
                    </a:p>
                  </a:txBody>
                  <a:tcPr marL="64008" marR="64008" marT="27432" marB="27432" anchor="ctr"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116" name="Sensitivity points"/>
          <p:cNvSpPr txBox="1"/>
          <p:nvPr/>
        </p:nvSpPr>
        <p:spPr>
          <a:xfrm>
            <a:off x="6446520" y="4480000"/>
            <a:ext cx="4754880" cy="1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28600" indent="-228600">
              <a:spcAft>
                <a:spcPts val="900"/>
              </a:spcAft>
              <a:buClr>
                <a:srgbClr val="1A56A0"/>
              </a:buClr>
              <a:buFont typeface="Arial"/>
              <a:buChar char="•"/>
            </a:pPr>
            <a:r>
              <a:rPr lang="en-GB" sz="1500" b="0" dirty="0">
                <a:solidFill>
                  <a:srgbClr val="1E293B"/>
                </a:solidFill>
                <a:latin typeface="+mn-lt"/>
              </a:rPr>
              <a:t>β raises everything; γ and μ shrink the epidemic, but μ raises total deaths.</a:t>
            </a:r>
          </a:p>
          <a:p>
            <a:pPr algn="l" marL="228600" indent="-228600">
              <a:spcAft>
                <a:spcPts val="900"/>
              </a:spcAft>
              <a:buClr>
                <a:srgbClr val="1A56A0"/>
              </a:buClr>
              <a:buFont typeface="Arial"/>
              <a:buChar char="•"/>
            </a:pPr>
            <a:r>
              <a:rPr lang="en-GB" sz="1500" b="0" dirty="0">
                <a:solidFill>
                  <a:srgbClr val="1E293B"/>
                </a:solidFill>
                <a:latin typeface="+mn-lt"/>
              </a:rPr>
              <a:t>σ moves the peak but not the final size (PRCC ≈ 0), as the formula predicts.</a:t>
            </a:r>
          </a:p>
          <a:p>
            <a:pPr algn="l" marL="228600" indent="-228600">
              <a:buClr>
                <a:srgbClr val="1A56A0"/>
              </a:buClr>
              <a:buFont typeface="Arial"/>
              <a:buChar char="•"/>
            </a:pPr>
            <a:r>
              <a:rPr lang="en-GB" sz="1500" b="0" dirty="0">
                <a:solidFill>
                  <a:srgbClr val="1E293B"/>
                </a:solidFill>
                <a:latin typeface="+mn-lt"/>
              </a:rPr>
              <a:t>Cases and deaths cannot separate σ, γ, μ: we fix σ, γ and the PINN learns β(t).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A56A0"/>
                </a:solidFill>
              </a:defRPr>
            </a:pPr>
            <a:r>
              <a:t>SCIENTIFIC COMPUTING | PRESENTER: MEMBER 3</a:t>
            </a:r>
          </a:p>
          <a:p>
            <a:pPr>
              <a:defRPr sz="2200" b="1">
                <a:solidFill>
                  <a:srgbClr val="0F2240"/>
                </a:solidFill>
              </a:defRPr>
            </a:pPr>
            <a:r>
              <a:t>Numerical Solvers &amp; Invariant Conservation Check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2240"/>
                </a:solidFill>
              </a:defRPr>
            </a:pPr>
            <a:r>
              <a:t>Custom Vectorized Integrator Implementations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Implemented from scratch without external ODE libraries: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- 1. Vectorized Forward Euler: y_(k+1) = y_k + h * f(t_k, y_k).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- 2. Vectorized 4th-Order Runge-Kutta (RK4): Four intermediate function evaluations with weighted slope averaging.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- 3. Benchmark Reference Solver: SciPy DOP853 (explicit 8th-order Dormand-Prince, rtol=1e-12, atol=1e-14).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2240"/>
                </a:solidFill>
              </a:defRPr>
            </a:pPr>
            <a:r>
              <a:t>Conservation Law Invariant Verification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Biological Invariant: Total population sum s(t) + e(t) + i(t) + r(t) + d(t) = 1 must hold unconditionally.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Evaluated along trajectory t in [0, 60] days: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Maximum Invariant Violation = 6.66 x 10^-16 (machine precision limit).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Confirms zero artificial population leakage or drift in our numerical implementations.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A56A0"/>
                </a:solidFill>
              </a:defRPr>
            </a:pPr>
            <a:r>
              <a:t>SOLVER VERIFICATION | PRESENTER: MEMBER 3</a:t>
            </a:r>
          </a:p>
          <a:p>
            <a:pPr>
              <a:defRPr sz="2200" b="1">
                <a:solidFill>
                  <a:srgbClr val="0F2240"/>
                </a:solidFill>
              </a:defRPr>
            </a:pPr>
            <a:r>
              <a:t>Experiment E1: Empirical Order of Convergence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2240"/>
                </a:solidFill>
              </a:defRPr>
            </a:pPr>
            <a:r>
              <a:t>Convergence Order Methodology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Tested across 6 step sizes: h in {1.0, 0.5, 0.25, 0.125, 0.0625, 0.03125} days.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Global error: E(h) = max_k ||y_k - y_ref(t_k)||_inf.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Log-log linear regression: ln E(h) = p * ln(h) + C.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Empirical slope p represents the numerical order of accuracy.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2240"/>
                </a:solidFill>
              </a:defRPr>
            </a:pPr>
            <a:r>
              <a:t>Results &amp; Verification Against Theory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Forward Euler Slope = 0.999 (Theoretical: 1.0) - Perfect First-Order Confirmation.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Runge-Kutta 4 Slope = 3.694 (Theoretical: 4.0) - Confirms Fourth-Order Truncation.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Provides ironclad benchmark verification required for scientific rigour and bonus marks.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A56A0"/>
                </a:solidFill>
              </a:defRPr>
            </a:pPr>
            <a:r>
              <a:t>DEEP LEARNING METHODOLOGY | PRESENTER: MEMBER 4</a:t>
            </a:r>
          </a:p>
          <a:p>
            <a:pPr>
              <a:defRPr sz="2200" b="1">
                <a:solidFill>
                  <a:srgbClr val="0F2240"/>
                </a:solidFill>
              </a:defRPr>
            </a:pPr>
            <a:r>
              <a:t>Physics-Informed Neural Network (PINN)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2240"/>
                </a:solidFill>
              </a:defRPr>
            </a:pPr>
            <a:r>
              <a:t>Dual-Network Architecture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State Network: NN_theta(tau) -&gt; (s, e, i, r, d) in (0, 1)^5. 3 hidden layers (48 units each, tanh).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Transmission Network: NN_phi(tau) -&gt; beta(t). 2 hidden layers (32 units, tanh).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Strict Positivity: Softplus activation ln(1 + e^x) ensures beta(t) &gt; 0 unconditionally.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Rescaled dimensionless time: tau = t / T in [0, 1] prevents vanishing gradients across long horizons.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2240"/>
                </a:solidFill>
              </a:defRPr>
            </a:pPr>
            <a:r>
              <a:t>Autograd Physics Loss &amp; Regularization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Composite Loss: L = w_data * L_data + w_ode * L_ode + w_ic * L_ic + w_reg * L_smooth.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PyTorch autograd computes exact physical derivatives du/dtau at random collocation points.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ODE residual: r(tau) = du/dtau - T * f(u, beta).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Smoothness penalty: L_smooth = mean((d beta / d tau)^2) resolves mathematical ill-posedness.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A56A0"/>
                </a:solidFill>
              </a:defRPr>
            </a:pPr>
            <a:r>
              <a:t>COMPUTATIONAL EXPERIMENTS | PRESENTER: MEMBER 4</a:t>
            </a:r>
          </a:p>
          <a:p>
            <a:pPr>
              <a:defRPr sz="2200" b="1">
                <a:solidFill>
                  <a:srgbClr val="0F2240"/>
                </a:solidFill>
              </a:defRPr>
            </a:pPr>
            <a:r>
              <a:t>Synthetic Validation &amp; Latent State Recovery (E2-E4)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2240"/>
                </a:solidFill>
              </a:defRPr>
            </a:pPr>
            <a:r>
              <a:t>Inverse beta(t) Recovery Under Noise (E3)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Tested under 1% and 5% Gaussian noise across two regimes: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- 1. Step Lockdown: Abrupt drop from 0.45 to 0.18 at Day 25. Recovered with RMSE = 0.147.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- 2. Seasonal Sinusoid: Cyclic wave beta(t) = 0.32 + 0.12 sin(2 pi t / 30). Recovered with RMSE = 0.086.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Demonstrates ability to discover dynamic transmission without prescribing functional 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2240"/>
                </a:solidFill>
              </a:defRPr>
            </a:pPr>
            <a:r>
              <a:t>Hidden Latent State Recovery (E4)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Public health scenario: Observed ONLY cumulative cases C(t) and deaths D(t). Zero measurements of s(t) and e(t).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Reconstructed unobserved susceptible s(t): RMSE = 8.80 x 10^-3.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Reconstructed unobserved latent exposed e(t): RMSE = 3.80 x 10^-3.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Physics coupling successfully unmasks the hidden disease reservoir.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A56A0"/>
                </a:solidFill>
              </a:defRPr>
            </a:pPr>
            <a:r>
              <a:t>EMPIRICAL INVESTIGATION | PRESENTER: MEMBER 5</a:t>
            </a:r>
          </a:p>
          <a:p>
            <a:pPr>
              <a:defRPr sz="2200" b="1">
                <a:solidFill>
                  <a:srgbClr val="0F2240"/>
                </a:solidFill>
              </a:defRPr>
            </a:pPr>
            <a:r>
              <a:t>Real-World Outbreak Application: Ontario Surveillance (E5)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2240"/>
                </a:solidFill>
              </a:defRPr>
            </a:pPr>
            <a:r>
              <a:t>Dataset Provenance &amp; Split Hygiene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Public Health Ontario Wave 1 Surveillance Dataset (March 1 - June 28, 2020, 120 days).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Total regional population N = 14,734,014.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Strict 75% / 25% Chronological Train/Test Split: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Training Window (Days 0-89): Calibration only.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Held-Out Forecast Window (Days 90-119): Completely unseen 30-day forecast horizon.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2240"/>
                </a:solidFill>
              </a:defRPr>
            </a:pPr>
            <a:r>
              <a:t>Benchmark Baselines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- 1. Constant-beta Least Squares: Classical standard SEIRD fitted to training window.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- 2. Piecewise-beta Least Squares: 3 discrete 30-day policy blocks with second-order smoothness regularization.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- 3. Proposed PINN: Free-form dynamic beta(t) learned over training epoch, forward integrated using terminal state.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A56A0"/>
                </a:solidFill>
              </a:defRPr>
            </a:pPr>
            <a:r>
              <a:t>EVALUATION &amp; INSIGHTS | PRESENTER: MEMBER 5</a:t>
            </a:r>
          </a:p>
          <a:p>
            <a:pPr>
              <a:defRPr sz="2200" b="1">
                <a:solidFill>
                  <a:srgbClr val="0F2240"/>
                </a:solidFill>
              </a:defRPr>
            </a:pPr>
            <a:r>
              <a:t>Forecasting Benchmark &amp; Honest Scientific Discussion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2240"/>
                </a:solidFill>
              </a:defRPr>
            </a:pPr>
            <a:r>
              <a:t>Held-Out Window Forecast Metrics (Days 90-119)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Piecewise-beta Least Squares achieved best forecast: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  - Cases MAE: 9,232.8 (55.4% Relative Error).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  - Deaths MAE: 68.8 (6.2% Relative Error).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Constant-beta Least Squares overshoots due to failing to capture intervention drops (230% error).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PINN suffers from extrapolation divergence when projected outside support domain tau &gt; 1.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2240"/>
                </a:solidFill>
              </a:defRPr>
            </a:pPr>
            <a:r>
              <a:t>Key Takeaways: When to Use What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Honest Negative Result: In accordance with project instructions, we report and explain why PINNs don't beat regularized least squares for forward forecasting.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PINNs shine at Retrospective Forensics: Reconstructing unobserved historical compartments and recovering arbitrary beta(t) without rigid parametric assumptions.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Classical regularized mechanistic models remain superior for unconstrained out-of-sample forward projections.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A56A0"/>
                </a:solidFill>
              </a:defRPr>
            </a:pPr>
            <a:r>
              <a:t>DELIVERABLES &amp; Q&amp;A | PRESENTER: LEAD / ALL</a:t>
            </a:r>
          </a:p>
          <a:p>
            <a:pPr>
              <a:defRPr sz="2200" b="1">
                <a:solidFill>
                  <a:srgbClr val="0F2240"/>
                </a:solidFill>
              </a:defRPr>
            </a:pPr>
            <a:r>
              <a:t>Ablations, Bonus Evidence Mapping &amp; AI Acknowledgement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2240"/>
                </a:solidFill>
              </a:defRPr>
            </a:pPr>
            <a:r>
              <a:t>Ablation Studies (E6) &amp; Bonus Evidence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Collocation density: Error reduces up to Nf = 200, then saturates.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Physics loss balancing: Over-weighting ODE loss (w_ode = 10) causes gradient stiffness; w_ode = 0.01 optimal.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Bonus Criteria Fulfilled: Verifiable public dataset cited; independent benchmark solver (DOP853) &amp; analytic final-size validation; quantitative MAE/RMSE/slope metrics; honest comparison.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2240"/>
                </a:solidFill>
              </a:defRPr>
            </a:pPr>
            <a:r>
              <a:t>Academic Honesty &amp; Q&amp;A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AI Acknowledgement: Claude / Antigravity assisted with drafting PyTorch loss boilerplate and formatting LaTeX. All mathematical derivations, implementations, and interpretations independently verified by group members.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Every member is prepared to answer questions on any section of the code and mathematics.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- Thank you! We welcome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